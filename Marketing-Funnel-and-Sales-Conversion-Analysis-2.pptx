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nconsolata"/>
      <p:regular r:id="rId201314"/>
    </p:embeddedFont>
    <p:embeddedFont>
      <p:font typeface="Inconsolata Black"/>
      <p:regular r:id="rId201315"/>
    </p:embeddedFont>
    <p:embeddedFont>
      <p:font typeface="Inconsolata Bold"/>
      <p:regular r:id="rId201316"/>
    </p:embeddedFont>
    <p:embeddedFont>
      <p:font typeface="Montserrat"/>
      <p:regular r:id="rId201317"/>
    </p:embeddedFont>
    <p:embeddedFont>
      <p:font typeface="Montserrat Bold"/>
      <p:regular r:id="rId201318"/>
    </p:embeddedFont>
    <p:embeddedFont>
      <p:font typeface="Montserrat Black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2.png"/><Relationship Id="rId5" Type="http://schemas.openxmlformats.org/officeDocument/2006/relationships/image" Target="../media/image-4-3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image" Target="../media/image-4-2.png"/><Relationship Id="rId9" Type="http://schemas.openxmlformats.org/officeDocument/2006/relationships/image" Target="../media/image-4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460748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Marketing Funnel &amp; Sales Conversion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3002310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 B2B Seller Acquisition Funnel &amp; Sales Efficiency Study — Olist dataset (Kaggle). Tools: Python (Pandas) · SQL (BigQuery) · Power BI.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790724"/>
            <a:ext cx="1076771" cy="215354"/>
          </a:xfrm>
          <a:prstGeom prst="roundRect">
            <a:avLst>
              <a:gd name="adj" fmla="val 2654"/>
            </a:avLst>
          </a:prstGeom>
          <a:solidFill>
            <a:srgbClr val="E4E6E7"/>
          </a:solidFill>
          <a:ln/>
        </p:spPr>
      </p:sp>
      <p:sp>
        <p:nvSpPr>
          <p:cNvPr id="4" name="Text 1"/>
          <p:cNvSpPr/>
          <p:nvPr/>
        </p:nvSpPr>
        <p:spPr>
          <a:xfrm>
            <a:off x="4010174" y="833214"/>
            <a:ext cx="136386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PROJECT OVERVIEW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925119" y="1062782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What We're Analyzing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3925119" y="1718370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8,000 sellers who filled out Olist's "sell on Olist" form (MQLs), June 2017–June 2018, and the subset converted by the sales team. Two core questions: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925119" y="2558281"/>
            <a:ext cx="4722763" cy="826368"/>
          </a:xfrm>
          <a:prstGeom prst="roundRect">
            <a:avLst>
              <a:gd name="adj" fmla="val 692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17780" dir="2700000">
              <a:srgbClr val="151617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071640" y="2704802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Marketing ROI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071640" y="3011314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Which channels and landing pages justify the spend?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25119" y="3526408"/>
            <a:ext cx="4722763" cy="826368"/>
          </a:xfrm>
          <a:prstGeom prst="roundRect">
            <a:avLst>
              <a:gd name="adj" fmla="val 692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17780" dir="2700000">
              <a:srgbClr val="151617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071640" y="3672929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Sales Efficiency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71640" y="3979441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How much does rep execution drive conversion vs. lead quality?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10468"/>
            <a:ext cx="566812" cy="215354"/>
          </a:xfrm>
          <a:prstGeom prst="roundRect">
            <a:avLst>
              <a:gd name="adj" fmla="val 2654"/>
            </a:avLst>
          </a:prstGeom>
          <a:noFill/>
          <a:ln w="4763">
            <a:solidFill>
              <a:srgbClr val="1516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1174" y="452958"/>
            <a:ext cx="85390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DATASET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68252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 Data at a Glance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408956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8,000</a:t>
            </a:r>
            <a:endParaRPr lang="en-US" sz="3650" dirty="0"/>
          </a:p>
        </p:txBody>
      </p:sp>
      <p:sp>
        <p:nvSpPr>
          <p:cNvPr id="6" name="Text 4"/>
          <p:cNvSpPr/>
          <p:nvPr/>
        </p:nvSpPr>
        <p:spPr>
          <a:xfrm>
            <a:off x="496119" y="2053903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Total MQLs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96119" y="2360414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Leads table: 4 columns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0553" y="1408956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841</a:t>
            </a:r>
            <a:endParaRPr lang="en-US" sz="3650" dirty="0"/>
          </a:p>
        </p:txBody>
      </p:sp>
      <p:sp>
        <p:nvSpPr>
          <p:cNvPr id="9" name="Text 7"/>
          <p:cNvSpPr/>
          <p:nvPr/>
        </p:nvSpPr>
        <p:spPr>
          <a:xfrm>
            <a:off x="4660553" y="2053903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Closed Deals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660553" y="2360414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After 1 integrity exclusion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6119" y="2941588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10.5%</a:t>
            </a:r>
            <a:endParaRPr lang="en-US" sz="3650" dirty="0"/>
          </a:p>
        </p:txBody>
      </p:sp>
      <p:sp>
        <p:nvSpPr>
          <p:cNvPr id="12" name="Text 10"/>
          <p:cNvSpPr/>
          <p:nvPr/>
        </p:nvSpPr>
        <p:spPr>
          <a:xfrm>
            <a:off x="496119" y="3586535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Conversion Rate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96119" y="3893046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Overall funnel rate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0553" y="2941588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48.5</a:t>
            </a:r>
            <a:endParaRPr lang="en-US" sz="3650" dirty="0"/>
          </a:p>
        </p:txBody>
      </p:sp>
      <p:sp>
        <p:nvSpPr>
          <p:cNvPr id="15" name="Text 13"/>
          <p:cNvSpPr/>
          <p:nvPr/>
        </p:nvSpPr>
        <p:spPr>
          <a:xfrm>
            <a:off x="4660553" y="3586535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Avg Days to Close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660553" y="3893046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Across all reps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6119" y="4279329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Two tables joined on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lead ID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(confirmed unique). Key features: origin, landing page ID, business segment, lead type, and behaviour profile (Eagle / Cat / Wolf / Shark).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633487"/>
            <a:ext cx="694209" cy="164902"/>
          </a:xfrm>
          <a:prstGeom prst="roundRect">
            <a:avLst>
              <a:gd name="adj" fmla="val 3466"/>
            </a:avLst>
          </a:prstGeom>
          <a:solidFill>
            <a:srgbClr val="E4E6E7"/>
          </a:solidFill>
          <a:ln/>
        </p:spPr>
      </p:sp>
      <p:sp>
        <p:nvSpPr>
          <p:cNvPr id="4" name="Text 1"/>
          <p:cNvSpPr/>
          <p:nvPr/>
        </p:nvSpPr>
        <p:spPr>
          <a:xfrm>
            <a:off x="3990231" y="666006"/>
            <a:ext cx="1021184" cy="99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DATA CLEANING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3925119" y="831577"/>
            <a:ext cx="4722763" cy="6783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Quality Issues &amp; How We Handled Them</a:t>
            </a:r>
            <a:endParaRPr lang="en-US" sz="2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1634579"/>
            <a:ext cx="4722763" cy="6182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05052" y="1757362"/>
            <a:ext cx="4420046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Origin: 1,159 "unknown"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4105052" y="1976735"/>
            <a:ext cx="4420046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60 blanks merged with 1,099 pre-existing "unknown" — both mean untracked channel.</a:t>
            </a:r>
            <a:endParaRPr lang="en-US" sz="8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2335857"/>
            <a:ext cx="4722763" cy="6182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105052" y="2458641"/>
            <a:ext cx="4420046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Revenue: 94.7% zeros → null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4105052" y="2678013"/>
            <a:ext cx="4420046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797 of 842 rows showed exactly $0 — diagnosed as a system default, not real data.</a:t>
            </a:r>
            <a:endParaRPr lang="en-US" sz="8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3037136"/>
            <a:ext cx="4722763" cy="77152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105052" y="3159919"/>
            <a:ext cx="4420046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Multi-label profiles → "mixed"</a:t>
            </a:r>
            <a:endParaRPr lang="en-US" sz="1050" dirty="0"/>
          </a:p>
        </p:txBody>
      </p:sp>
      <p:sp>
        <p:nvSpPr>
          <p:cNvPr id="14" name="Text 8"/>
          <p:cNvSpPr/>
          <p:nvPr/>
        </p:nvSpPr>
        <p:spPr>
          <a:xfrm>
            <a:off x="4105052" y="3379291"/>
            <a:ext cx="4420046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16 leads tagged with multiple profiles (e.g., "cat, wolf") — kept as a distinct category.</a:t>
            </a:r>
            <a:endParaRPr lang="en-US" sz="8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25119" y="3891707"/>
            <a:ext cx="4722763" cy="61823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105052" y="4014490"/>
            <a:ext cx="4420046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Date anomaly excluded</a:t>
            </a:r>
            <a:endParaRPr lang="en-US" sz="1050" dirty="0"/>
          </a:p>
        </p:txBody>
      </p:sp>
      <p:sp>
        <p:nvSpPr>
          <p:cNvPr id="17" name="Text 10"/>
          <p:cNvSpPr/>
          <p:nvPr/>
        </p:nvSpPr>
        <p:spPr>
          <a:xfrm>
            <a:off x="4105052" y="4233863"/>
            <a:ext cx="4420046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1 deal had a won date before its first contact — logical impossibility, removed.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43744"/>
            <a:ext cx="1076771" cy="215354"/>
          </a:xfrm>
          <a:prstGeom prst="roundRect">
            <a:avLst>
              <a:gd name="adj" fmla="val 2654"/>
            </a:avLst>
          </a:prstGeom>
          <a:solidFill>
            <a:srgbClr val="E4E6E7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586234"/>
            <a:ext cx="136386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CHANNEL ANALYSIS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1580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Which Channels Convert Best?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630859"/>
            <a:ext cx="3902943" cy="28093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49701" y="1613148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Key Findings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49701" y="1976363"/>
            <a:ext cx="3902943" cy="1686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Unknown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leads convert best at 16.65% — investigate tracking gaps before treating as a high-value source.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Social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drives 1,350 leads (3rd-highest volume) but converts at only 5.56% — flagged for budget review.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Email &amp; other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are the weakest performers at 3.04% and 2.67%.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402654"/>
            <a:ext cx="878235" cy="208583"/>
          </a:xfrm>
          <a:prstGeom prst="roundRect">
            <a:avLst>
              <a:gd name="adj" fmla="val 2740"/>
            </a:avLst>
          </a:prstGeom>
          <a:noFill/>
          <a:ln w="4763">
            <a:solidFill>
              <a:srgbClr val="15161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78495" y="443805"/>
            <a:ext cx="1170682" cy="126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LANDING PAGES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664443"/>
            <a:ext cx="4722763" cy="858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Landing Page Performance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96119" y="1722239"/>
            <a:ext cx="2294855" cy="1874565"/>
          </a:xfrm>
          <a:prstGeom prst="roundRect">
            <a:avLst>
              <a:gd name="adj" fmla="val 305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17780" dir="2700000">
              <a:srgbClr val="151617">
                <a:alpha val="10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38175" y="1864296"/>
            <a:ext cx="2010742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495 Unique Pages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8175" y="2158603"/>
            <a:ext cx="2010742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Median just 2 leads/page; one page drove 912 leads (~11% of all traffic).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923952" y="1722239"/>
            <a:ext cx="2294930" cy="1874565"/>
          </a:xfrm>
          <a:prstGeom prst="roundRect">
            <a:avLst>
              <a:gd name="adj" fmla="val 305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17780" dir="2700000">
              <a:srgbClr val="151617">
                <a:alpha val="10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066008" y="1864296"/>
            <a:ext cx="2010817" cy="429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0%–25% Conversion Range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3066008" y="2373139"/>
            <a:ext cx="2010817" cy="1081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Among pages with 20+ leads. Two pages with identical volume converted at 25% vs. 10% — page design is an independent lever.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96119" y="3729782"/>
            <a:ext cx="4722763" cy="1011064"/>
          </a:xfrm>
          <a:prstGeom prst="roundRect">
            <a:avLst>
              <a:gd name="adj" fmla="val 565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17780" dir="2700000">
              <a:srgbClr val="151617">
                <a:alpha val="10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38175" y="3871838"/>
            <a:ext cx="4438650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15 Zero-Conversion Pages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38175" y="4166146"/>
            <a:ext cx="4438650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Each has 20+ leads but zero closed deals — collectively hundreds of leads with no return. Audit or pause.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25723"/>
            <a:ext cx="725537" cy="212006"/>
          </a:xfrm>
          <a:prstGeom prst="roundRect">
            <a:avLst>
              <a:gd name="adj" fmla="val 2696"/>
            </a:avLst>
          </a:prstGeom>
          <a:solidFill>
            <a:srgbClr val="E4E6E7"/>
          </a:solidFill>
          <a:ln/>
        </p:spPr>
      </p:sp>
      <p:sp>
        <p:nvSpPr>
          <p:cNvPr id="3" name="Text 1"/>
          <p:cNvSpPr/>
          <p:nvPr/>
        </p:nvSpPr>
        <p:spPr>
          <a:xfrm>
            <a:off x="579834" y="467544"/>
            <a:ext cx="1015305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SALES TEAM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692646"/>
            <a:ext cx="8151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Rep Concentration &amp; Time-to-Close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96119" y="1472133"/>
            <a:ext cx="3905696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Concentration Risk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1827535"/>
            <a:ext cx="3905696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Top SDR closed </a:t>
            </a:r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140 of 841 deals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(~16.6%); top SR closed </a:t>
            </a:r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133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(~15.8%). Sharp drop-off after the top 5–6 reps — a business-continuity risk.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96119" y="2629272"/>
            <a:ext cx="3905696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Speed ≠ Volume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96119" y="2984674"/>
            <a:ext cx="3905696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Busiest SDR (140 deals) averages 33.6 days to close. A lower-volume SDR closes in under 20 days. Deal volume and deal speed are </a:t>
            </a:r>
            <a:pPr algn="l" indent="0" marL="0">
              <a:lnSpc>
                <a:spcPct val="132000"/>
              </a:lnSpc>
              <a:buNone/>
            </a:pPr>
            <a:r>
              <a:rPr lang="en-US" sz="1050" i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not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the same skill.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96119" y="3803526"/>
            <a:ext cx="3905696" cy="759768"/>
          </a:xfrm>
          <a:prstGeom prst="roundRect">
            <a:avLst>
              <a:gd name="adj" fmla="val 752"/>
            </a:avLst>
          </a:prstGeom>
          <a:solidFill>
            <a:srgbClr val="E4E6E7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645" y="4008165"/>
            <a:ext cx="174427" cy="13952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49598" y="3961954"/>
            <a:ext cx="331269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Fastest-rep patterns should become a coaching template for slower reps.</a:t>
            </a:r>
            <a:endParaRPr lang="en-US" sz="10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6947" y="1489249"/>
            <a:ext cx="3905696" cy="281128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43744"/>
            <a:ext cx="906810" cy="215354"/>
          </a:xfrm>
          <a:prstGeom prst="roundRect">
            <a:avLst>
              <a:gd name="adj" fmla="val 2654"/>
            </a:avLst>
          </a:prstGeom>
          <a:noFill/>
          <a:ln w="4763">
            <a:solidFill>
              <a:srgbClr val="1516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1174" y="586234"/>
            <a:ext cx="119389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LEAD BEHAVIOR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1580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Behaviour Profile Predicts Deal Speed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630859"/>
            <a:ext cx="3902943" cy="28093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49701" y="1613148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2.3× Faster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49701" y="1976363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Eagle leads close in 36 days vs. Wolf's 83.9 days — despite comparable sample sizes (123 vs. 95 deals).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749701" y="2571750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749701" y="2934965"/>
            <a:ext cx="3902943" cy="1488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Eagles are decisive and results-driven; Wolves are relationship-driven and need more touchpoints. Route Eagles to fast-track handling; give Wolves structured follow-up cadences.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*Mixed (16 deals) — treat cautiously due to small sample.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396553"/>
            <a:ext cx="1097087" cy="198462"/>
          </a:xfrm>
          <a:prstGeom prst="roundRect">
            <a:avLst>
              <a:gd name="adj" fmla="val 2880"/>
            </a:avLst>
          </a:prstGeom>
          <a:solidFill>
            <a:srgbClr val="E4E6E7"/>
          </a:solidFill>
          <a:ln/>
        </p:spPr>
      </p:sp>
      <p:sp>
        <p:nvSpPr>
          <p:cNvPr id="4" name="Text 1"/>
          <p:cNvSpPr/>
          <p:nvPr/>
        </p:nvSpPr>
        <p:spPr>
          <a:xfrm>
            <a:off x="4003477" y="435694"/>
            <a:ext cx="1397571" cy="120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POWER BI DASHBOARD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3925119" y="643161"/>
            <a:ext cx="4722763" cy="816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Interactive Funnel Dashboard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3925119" y="1640607"/>
            <a:ext cx="4722763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Built on live DAX measures with bidirectional cross-filtering — all visuals update together when viewers filter by date or channel.</a:t>
            </a:r>
            <a:endParaRPr lang="en-US" sz="1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5119" y="2177802"/>
            <a:ext cx="4722763" cy="256914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415305"/>
            <a:ext cx="793626" cy="188565"/>
          </a:xfrm>
          <a:prstGeom prst="roundRect">
            <a:avLst>
              <a:gd name="adj" fmla="val 3031"/>
            </a:avLst>
          </a:prstGeom>
          <a:solidFill>
            <a:srgbClr val="E4E6E7"/>
          </a:solidFill>
          <a:ln/>
        </p:spPr>
      </p:sp>
      <p:sp>
        <p:nvSpPr>
          <p:cNvPr id="4" name="Text 1"/>
          <p:cNvSpPr/>
          <p:nvPr/>
        </p:nvSpPr>
        <p:spPr>
          <a:xfrm>
            <a:off x="570533" y="452512"/>
            <a:ext cx="1101998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KEY TAKEAWAYS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96119" y="647254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Three Levers, Sequenced Correctly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96119" y="1585094"/>
            <a:ext cx="4722763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Weak spots aren't evenly distributed — treating "low conversion" as one problem leads to the wrong fix.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496119" y="2079203"/>
            <a:ext cx="279053" cy="279053"/>
          </a:xfrm>
          <a:prstGeom prst="roundRect">
            <a:avLst>
              <a:gd name="adj" fmla="val 2048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15240" dir="2700000">
              <a:srgbClr val="151617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42627" y="2102458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83667" y="2121843"/>
            <a:ext cx="4335214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Reallocate Social Spend — After Fixing Lead Quality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83667" y="2574652"/>
            <a:ext cx="4335214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Social's gap is a lead-quality issue, not rep execution (only a 2-day handling gap vs. unknown). Reassigning reps won't fix it.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96119" y="3163788"/>
            <a:ext cx="279053" cy="279053"/>
          </a:xfrm>
          <a:prstGeom prst="roundRect">
            <a:avLst>
              <a:gd name="adj" fmla="val 2048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15240" dir="2700000">
              <a:srgbClr val="151617">
                <a:alpha val="10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42627" y="3187043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883667" y="3206428"/>
            <a:ext cx="433521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Replicate Top Landing Page Patterns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83667" y="3465388"/>
            <a:ext cx="4335214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Page design is an independent lever — pages with identical traffic differ 2× in conversion.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96119" y="4054525"/>
            <a:ext cx="279053" cy="279053"/>
          </a:xfrm>
          <a:prstGeom prst="roundRect">
            <a:avLst>
              <a:gd name="adj" fmla="val 2048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15240" dir="2700000">
              <a:srgbClr val="151617">
                <a:alpha val="10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42627" y="4077779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883667" y="4097164"/>
            <a:ext cx="433521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Route Leads by Behaviour Profile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83667" y="4356125"/>
            <a:ext cx="4335214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Fast-track Eagles; give Wolves and Sharks structured follow-up cadences.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2026-08-03T09:10:14Z</dcterms:created>
  <dcterms:modified xsi:type="dcterms:W3CDTF">2026-08-03T09:10:14Z</dcterms:modified>
</cp:coreProperties>
</file>